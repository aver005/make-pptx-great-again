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10867697" cy="450303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42041" cy="450303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9420" y="1916988"/>
            <a:ext cx="2154621" cy="777766"/>
          </a:xfrm>
          <a:prstGeom prst="roundRect">
            <a:avLst>
              <a:gd name="adj" fmla="val 16216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18690" y="1790864"/>
            <a:ext cx="2154621" cy="777766"/>
          </a:xfrm>
          <a:prstGeom prst="roundRect">
            <a:avLst>
              <a:gd name="adj" fmla="val 16216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57959" y="1916988"/>
            <a:ext cx="2154621" cy="777766"/>
          </a:xfrm>
          <a:prstGeom prst="roundRect">
            <a:avLst>
              <a:gd name="adj" fmla="val 16216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92241" y="4124161"/>
            <a:ext cx="2154621" cy="777766"/>
          </a:xfrm>
          <a:prstGeom prst="roundRect">
            <a:avLst>
              <a:gd name="adj" fmla="val 16216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45139" y="4124161"/>
            <a:ext cx="2154621" cy="777766"/>
          </a:xfrm>
          <a:prstGeom prst="roundRect">
            <a:avLst>
              <a:gd name="adj" fmla="val 16216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0828" y="3010064"/>
            <a:ext cx="2890345" cy="1008993"/>
          </a:xfrm>
          <a:prstGeom prst="ellipse">
            <a:avLst/>
          </a:prstGeom>
          <a:solidFill>
            <a:srgbClr val="EDF4F9"/>
          </a:solidFill>
          <a:ln w="42041">
            <a:solidFill>
              <a:srgbClr val="436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-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117" y="2066432"/>
            <a:ext cx="231228" cy="231228"/>
          </a:xfrm>
          <a:prstGeom prst="rect">
            <a:avLst/>
          </a:prstGeom>
        </p:spPr>
      </p:pic>
      <p:pic>
        <p:nvPicPr>
          <p:cNvPr id="13" name="Picture 12" descr="ic-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386" y="1940308"/>
            <a:ext cx="231228" cy="231228"/>
          </a:xfrm>
          <a:prstGeom prst="rect">
            <a:avLst/>
          </a:prstGeom>
        </p:spPr>
      </p:pic>
      <p:pic>
        <p:nvPicPr>
          <p:cNvPr id="14" name="Picture 13" descr="ic-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656" y="2066432"/>
            <a:ext cx="231228" cy="231228"/>
          </a:xfrm>
          <a:prstGeom prst="rect">
            <a:avLst/>
          </a:prstGeom>
        </p:spPr>
      </p:pic>
      <p:pic>
        <p:nvPicPr>
          <p:cNvPr id="15" name="Picture 14" descr="ic-0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3937" y="4273605"/>
            <a:ext cx="231228" cy="231228"/>
          </a:xfrm>
          <a:prstGeom prst="rect">
            <a:avLst/>
          </a:prstGeom>
        </p:spPr>
      </p:pic>
      <p:pic>
        <p:nvPicPr>
          <p:cNvPr id="16" name="Picture 15" descr="ic-0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6835" y="4273605"/>
            <a:ext cx="231228" cy="2312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110" y="462455"/>
            <a:ext cx="1539601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СЛАЙД 1 · ПОНЯТИЕ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110" y="683172"/>
            <a:ext cx="6203895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Сетевые информационные ресурсы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38" y="1382603"/>
            <a:ext cx="7576316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>
                <a:solidFill>
                  <a:srgbClr val="536273"/>
                </a:solidFill>
                <a:latin typeface="Arial"/>
              </a:rPr>
              <a:t>Сетевые информационные ресурсы — цифровые ресурсы, доступ к которым осуществляется по компьютерной сети.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24" y="2371232"/>
            <a:ext cx="1832413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Электронные библиотеки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4459" y="2245108"/>
            <a:ext cx="1003081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Базы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419" y="2371232"/>
            <a:ext cx="1633538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Электронные каталоги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4319" y="4578405"/>
            <a:ext cx="1470463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Сетевые документы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1399" y="4578405"/>
            <a:ext cx="1562100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Веб-сайты и порталы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7282" y="3367416"/>
            <a:ext cx="2077435" cy="29429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1" spc="40">
                <a:solidFill>
                  <a:srgbClr val="321E48"/>
                </a:solidFill>
                <a:latin typeface="Arial"/>
              </a:rPr>
              <a:t>СЕТЕВОЙ РЕСУРС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110" y="6542690"/>
            <a:ext cx="6606737" cy="13663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8B96A5"/>
                </a:solidFill>
                <a:latin typeface="Arial"/>
              </a:rPr>
              <a:t>Левин Г. Л. Сетевые информационные ресурсы как объект библиографирования // Библиотековедение. 2017. Т. 66, № 4. С. 396–402.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10867697" cy="648357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42041" cy="648357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152" y="1904836"/>
            <a:ext cx="3524414" cy="1387366"/>
          </a:xfrm>
          <a:prstGeom prst="rect">
            <a:avLst/>
          </a:prstGeom>
          <a:solidFill>
            <a:srgbClr val="F2F6F8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3711" y="1904836"/>
            <a:ext cx="3524414" cy="1387366"/>
          </a:xfrm>
          <a:prstGeom prst="rect">
            <a:avLst/>
          </a:prstGeom>
          <a:solidFill>
            <a:srgbClr val="EEF7F6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5270" y="1904836"/>
            <a:ext cx="3524578" cy="1387366"/>
          </a:xfrm>
          <a:prstGeom prst="rect">
            <a:avLst/>
          </a:prstGeom>
          <a:solidFill>
            <a:srgbClr val="F4F1F8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152" y="3439346"/>
            <a:ext cx="3524414" cy="1387366"/>
          </a:xfrm>
          <a:prstGeom prst="rect">
            <a:avLst/>
          </a:prstGeom>
          <a:solidFill>
            <a:srgbClr val="F3F5F8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3711" y="3439346"/>
            <a:ext cx="3524414" cy="1387366"/>
          </a:xfrm>
          <a:prstGeom prst="rect">
            <a:avLst/>
          </a:prstGeom>
          <a:solidFill>
            <a:srgbClr val="EDF7F5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5270" y="3439346"/>
            <a:ext cx="3524578" cy="1387366"/>
          </a:xfrm>
          <a:prstGeom prst="rect">
            <a:avLst/>
          </a:prstGeom>
          <a:solidFill>
            <a:srgbClr val="F5F3F7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-1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08" y="2212428"/>
            <a:ext cx="241738" cy="241738"/>
          </a:xfrm>
          <a:prstGeom prst="rect">
            <a:avLst/>
          </a:prstGeom>
        </p:spPr>
      </p:pic>
      <p:pic>
        <p:nvPicPr>
          <p:cNvPr id="13" name="Picture 12" descr="ic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967" y="2212428"/>
            <a:ext cx="241738" cy="241738"/>
          </a:xfrm>
          <a:prstGeom prst="rect">
            <a:avLst/>
          </a:prstGeom>
        </p:spPr>
      </p:pic>
      <p:pic>
        <p:nvPicPr>
          <p:cNvPr id="14" name="Picture 13" descr="ic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690" y="2212428"/>
            <a:ext cx="241738" cy="241738"/>
          </a:xfrm>
          <a:prstGeom prst="rect">
            <a:avLst/>
          </a:prstGeom>
        </p:spPr>
      </p:pic>
      <p:pic>
        <p:nvPicPr>
          <p:cNvPr id="15" name="Picture 14" descr="ic-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3408" y="3746938"/>
            <a:ext cx="241738" cy="241738"/>
          </a:xfrm>
          <a:prstGeom prst="rect">
            <a:avLst/>
          </a:prstGeom>
        </p:spPr>
      </p:pic>
      <p:pic>
        <p:nvPicPr>
          <p:cNvPr id="16" name="Picture 15" descr="ic-1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967" y="3746938"/>
            <a:ext cx="241738" cy="241738"/>
          </a:xfrm>
          <a:prstGeom prst="rect">
            <a:avLst/>
          </a:prstGeom>
        </p:spPr>
      </p:pic>
      <p:pic>
        <p:nvPicPr>
          <p:cNvPr id="17" name="Picture 16" descr="ic-1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690" y="3746938"/>
            <a:ext cx="241738" cy="2417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110" y="462455"/>
            <a:ext cx="2135078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СЛАЙД 2 · КЛАССИФИКАЦИЯ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110" y="683172"/>
            <a:ext cx="6292412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Основные группы сетевых ресурсов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38" y="1382603"/>
            <a:ext cx="10382250" cy="37673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>
                <a:solidFill>
                  <a:srgbClr val="536273"/>
                </a:solidFill>
                <a:latin typeface="Arial"/>
              </a:rPr>
              <a:t>Разные типы ресурсов решают разные задачи: одни обеспечивают поиск и навигацию, другие — хранение документов или доступ к структурированным данным. Поэтому сетевую среду целесообразно рассматривать как совокупность взаимосвязанных ресурсов.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762" y="2538248"/>
            <a:ext cx="1903194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21E48"/>
                </a:solidFill>
                <a:latin typeface="Arial"/>
              </a:rPr>
              <a:t>Веб-сайты и порталы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9933" y="2810203"/>
            <a:ext cx="2508852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Многофункциональные сетевые системы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7962" y="2538248"/>
            <a:ext cx="2235747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21E48"/>
                </a:solidFill>
                <a:latin typeface="Arial"/>
              </a:rPr>
              <a:t>Электронные библиотеки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810203"/>
            <a:ext cx="2133436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Собрания и коллекции документов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9930" y="2538248"/>
            <a:ext cx="1215094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21E48"/>
                </a:solidFill>
                <a:latin typeface="Arial"/>
              </a:rPr>
              <a:t>Базы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4407" y="2810203"/>
            <a:ext cx="2086139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Организованные массивы данных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0865" y="4072759"/>
            <a:ext cx="2566823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21E48"/>
                </a:solidFill>
                <a:latin typeface="Arial"/>
              </a:rPr>
              <a:t>Библиографические ресурсы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1701" y="4344714"/>
            <a:ext cx="1805316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Каталоги, указатели и записи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0650" y="4072759"/>
            <a:ext cx="1790372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21E48"/>
                </a:solidFill>
                <a:latin typeface="Arial"/>
              </a:rPr>
              <a:t>Сетевые документы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8154" y="4344714"/>
            <a:ext cx="2575363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Публикации и издания в цифровой форме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2247" y="4072759"/>
            <a:ext cx="1190461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21E48"/>
                </a:solidFill>
                <a:latin typeface="Arial"/>
              </a:rPr>
              <a:t>Веб-сервисы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6944" y="4344714"/>
            <a:ext cx="2741229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Сетевые функции и информационные услуги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110" y="6542690"/>
            <a:ext cx="6700181" cy="13663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8B96A5"/>
                </a:solidFill>
                <a:latin typeface="Arial"/>
              </a:rPr>
              <a:t>По Г. Л. Левину: сайты и порталы, электронные библиотеки, коллекции, веб-сервисы, базы данных и сетевые электронные документы.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10867697" cy="648357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42041" cy="648357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-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45" y="1904836"/>
            <a:ext cx="945931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110" y="462455"/>
            <a:ext cx="2925653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СЛАЙД 3 · ЭЛЕКТРОННАЯ БИБЛИОТЕКА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110" y="683172"/>
            <a:ext cx="6314254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От цифровой коллекции к документу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338" y="1382603"/>
            <a:ext cx="10163832" cy="37673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>
                <a:solidFill>
                  <a:srgbClr val="536273"/>
                </a:solidFill>
                <a:latin typeface="Arial"/>
              </a:rPr>
              <a:t>Электронная библиотека связывает коллекцию цифровых документов с инструментами поиска. Пользователь работает не с массивом файлов напрямую, а с каталогом и библиографическими данными, которые ведут к конкретному документу.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110" y="6542690"/>
            <a:ext cx="7730030" cy="13663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8B96A5"/>
                </a:solidFill>
                <a:latin typeface="Arial"/>
              </a:rPr>
              <a:t>Электронно-форматные библиографические ресурсы включают базы данных и электронные каталоги; их задача — учет, поиск и навигация по документам.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092" y="4521912"/>
            <a:ext cx="1899581" cy="18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000000"/>
                </a:solidFill>
                <a:latin typeface="Arial"/>
              </a:rPr>
              <a:t>ЦИФРОВАЯ КОЛЛЕКЦИЯ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717" y="2577498"/>
            <a:ext cx="1971501" cy="18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0000"/>
                </a:solidFill>
                <a:latin typeface="Arial"/>
              </a:rPr>
              <a:t>ЭЛЕКТРОННЫЙ КАТАЛОГ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883" y="2997912"/>
            <a:ext cx="1590511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0">
                <a:solidFill>
                  <a:srgbClr val="7A8794"/>
                </a:solidFill>
                <a:latin typeface="Arial"/>
              </a:rPr>
              <a:t>Автор / название / тема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4372" y="3533939"/>
            <a:ext cx="1842205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0000"/>
                </a:solidFill>
                <a:latin typeface="Arial"/>
              </a:rPr>
              <a:t>Библиографическая запись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4372" y="3964863"/>
            <a:ext cx="1492469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0000"/>
                </a:solidFill>
                <a:latin typeface="Arial"/>
              </a:rPr>
              <a:t>Полный текст / доступ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10867697" cy="450303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42041" cy="450303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6853" y="1969540"/>
            <a:ext cx="2364828" cy="714703"/>
          </a:xfrm>
          <a:prstGeom prst="roundRect">
            <a:avLst>
              <a:gd name="adj" fmla="val 17647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0319" y="1969540"/>
            <a:ext cx="2364828" cy="714703"/>
          </a:xfrm>
          <a:prstGeom prst="roundRect">
            <a:avLst>
              <a:gd name="adj" fmla="val 17647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6853" y="3977016"/>
            <a:ext cx="2364828" cy="714703"/>
          </a:xfrm>
          <a:prstGeom prst="roundRect">
            <a:avLst>
              <a:gd name="adj" fmla="val 17647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30319" y="3977016"/>
            <a:ext cx="2364828" cy="714703"/>
          </a:xfrm>
          <a:prstGeom prst="roundRect">
            <a:avLst>
              <a:gd name="adj" fmla="val 17647"/>
            </a:avLst>
          </a:prstGeom>
          <a:solidFill>
            <a:srgbClr val="F7F9FB"/>
          </a:solidFill>
          <a:ln w="10510">
            <a:solidFill>
              <a:srgbClr val="CB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82207" y="2631692"/>
            <a:ext cx="2627586" cy="1313793"/>
          </a:xfrm>
          <a:prstGeom prst="roundRect">
            <a:avLst>
              <a:gd name="adj" fmla="val 17600"/>
            </a:avLst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65379" y="2820878"/>
            <a:ext cx="1261241" cy="262759"/>
          </a:xfrm>
          <a:prstGeom prst="ellipse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65379" y="3157209"/>
            <a:ext cx="1261241" cy="262759"/>
          </a:xfrm>
          <a:prstGeom prst="ellipse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65379" y="3493540"/>
            <a:ext cx="1261241" cy="262759"/>
          </a:xfrm>
          <a:prstGeom prst="ellipse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-3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653" y="2087453"/>
            <a:ext cx="231228" cy="231228"/>
          </a:xfrm>
          <a:prstGeom prst="rect">
            <a:avLst/>
          </a:prstGeom>
        </p:spPr>
      </p:pic>
      <p:pic>
        <p:nvPicPr>
          <p:cNvPr id="15" name="Picture 14" descr="ic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119" y="2087453"/>
            <a:ext cx="231228" cy="231228"/>
          </a:xfrm>
          <a:prstGeom prst="rect">
            <a:avLst/>
          </a:prstGeom>
        </p:spPr>
      </p:pic>
      <p:pic>
        <p:nvPicPr>
          <p:cNvPr id="16" name="Picture 15" descr="ic-3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653" y="4094929"/>
            <a:ext cx="231228" cy="231228"/>
          </a:xfrm>
          <a:prstGeom prst="rect">
            <a:avLst/>
          </a:prstGeom>
        </p:spPr>
      </p:pic>
      <p:pic>
        <p:nvPicPr>
          <p:cNvPr id="17" name="Picture 16" descr="ic-3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7119" y="4094929"/>
            <a:ext cx="231228" cy="2312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110" y="462455"/>
            <a:ext cx="2019628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СЛАЙД 4 · НАУЧНЫЕ БАЗЫ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110" y="683172"/>
            <a:ext cx="5814684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Поиск в распределённом массиве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38" y="1382603"/>
            <a:ext cx="7112055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>
                <a:solidFill>
                  <a:srgbClr val="536273"/>
                </a:solidFill>
                <a:latin typeface="Arial"/>
              </a:rPr>
              <a:t>Научный поиск объединяет публикации, материалы конференций, диссертации и библиографические записи.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7168" y="2392253"/>
            <a:ext cx="1264033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Статьи журналов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797" y="2392253"/>
            <a:ext cx="1823709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Материалы конференций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7701" y="4399729"/>
            <a:ext cx="1403131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Диссертации и ВКР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9670" y="4399729"/>
            <a:ext cx="1985962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975" b="1">
                <a:solidFill>
                  <a:srgbClr val="321E48"/>
                </a:solidFill>
                <a:latin typeface="Arial"/>
              </a:rPr>
              <a:t>Библиографические записи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1218" y="2852409"/>
            <a:ext cx="589565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21E48"/>
                </a:solidFill>
                <a:latin typeface="Arial"/>
              </a:rPr>
              <a:t>ПОИСК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8608" y="3188740"/>
            <a:ext cx="574620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21E48"/>
                </a:solidFill>
                <a:latin typeface="Arial"/>
              </a:rPr>
              <a:t>ОТБОР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59012" y="3525071"/>
            <a:ext cx="673812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21E48"/>
                </a:solidFill>
                <a:latin typeface="Arial"/>
              </a:rPr>
              <a:t>ДОСТУП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110" y="6542690"/>
            <a:ext cx="6076293" cy="13663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8B96A5"/>
                </a:solidFill>
                <a:latin typeface="Arial"/>
              </a:rPr>
              <a:t>Электронные библиографические ресурсы обеспечивают учёт, поиск и ориентирование в цифровом массиве документов.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10867697" cy="450303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42041" cy="450303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2152" y="1969540"/>
            <a:ext cx="2606566" cy="1524000"/>
          </a:xfrm>
          <a:prstGeom prst="roundRect">
            <a:avLst>
              <a:gd name="adj" fmla="val 8275"/>
            </a:avLst>
          </a:prstGeom>
          <a:solidFill>
            <a:srgbClr val="F1F6F8"/>
          </a:solidFill>
          <a:ln w="10510">
            <a:solidFill>
              <a:srgbClr val="32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15862" y="1969540"/>
            <a:ext cx="2606566" cy="1524000"/>
          </a:xfrm>
          <a:prstGeom prst="roundRect">
            <a:avLst>
              <a:gd name="adj" fmla="val 8275"/>
            </a:avLst>
          </a:prstGeom>
          <a:solidFill>
            <a:srgbClr val="EEF7F5"/>
          </a:solidFill>
          <a:ln w="10510">
            <a:solidFill>
              <a:srgbClr val="32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69572" y="1969540"/>
            <a:ext cx="2606566" cy="1524000"/>
          </a:xfrm>
          <a:prstGeom prst="roundRect">
            <a:avLst>
              <a:gd name="adj" fmla="val 8275"/>
            </a:avLst>
          </a:prstGeom>
          <a:solidFill>
            <a:srgbClr val="F5F1F8"/>
          </a:solidFill>
          <a:ln w="10510">
            <a:solidFill>
              <a:srgbClr val="32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23283" y="1969540"/>
            <a:ext cx="2606566" cy="1524000"/>
          </a:xfrm>
          <a:prstGeom prst="roundRect">
            <a:avLst>
              <a:gd name="adj" fmla="val 8275"/>
            </a:avLst>
          </a:prstGeom>
          <a:solidFill>
            <a:srgbClr val="F3F5F7"/>
          </a:solidFill>
          <a:ln w="10510">
            <a:solidFill>
              <a:srgbClr val="32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110" y="462455"/>
            <a:ext cx="1346966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СЛАЙД 5 · ПОИСК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110" y="683172"/>
            <a:ext cx="4008383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От запроса к источнику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38" y="1382603"/>
            <a:ext cx="9991561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>
                <a:solidFill>
                  <a:srgbClr val="536273"/>
                </a:solidFill>
                <a:latin typeface="Arial"/>
              </a:rPr>
              <a:t>Эффективный поиск проходит несколько последовательных этапов: от формулирования информационной потребности до выбора конкретного документа.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8002" y="2158726"/>
            <a:ext cx="434701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321E48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3391" y="2537099"/>
            <a:ext cx="644087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25" b="1">
                <a:solidFill>
                  <a:srgbClr val="321E48"/>
                </a:solidFill>
                <a:latin typeface="Arial"/>
              </a:rPr>
              <a:t>Запрос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901" y="2831388"/>
            <a:ext cx="2258903" cy="33830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657383"/>
                </a:solidFill>
                <a:latin typeface="Arial"/>
              </a:rPr>
              <a:t>Определить тему, ключевые понятия и цель поиска.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1712" y="2158726"/>
            <a:ext cx="434701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321E48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0456" y="2537099"/>
            <a:ext cx="557212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25" b="1">
                <a:solidFill>
                  <a:srgbClr val="321E48"/>
                </a:solidFill>
                <a:latin typeface="Arial"/>
              </a:rPr>
              <a:t>Поиск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2714" y="2831388"/>
            <a:ext cx="2272698" cy="33830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657383"/>
                </a:solidFill>
                <a:latin typeface="Arial"/>
              </a:rPr>
              <a:t>Использовать каталоги, базы данных и поисковые средства.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5422" y="2158726"/>
            <a:ext cx="434701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321E48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5791" y="2537099"/>
            <a:ext cx="573963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25" b="1">
                <a:solidFill>
                  <a:srgbClr val="321E48"/>
                </a:solidFill>
                <a:latin typeface="Arial"/>
              </a:rPr>
              <a:t>Отбор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3339" y="2831388"/>
            <a:ext cx="2239032" cy="33830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657383"/>
                </a:solidFill>
                <a:latin typeface="Arial"/>
              </a:rPr>
              <a:t>Сопоставить результаты с задачей и оценить качество источников.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9133" y="2158726"/>
            <a:ext cx="434701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321E48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8961" y="2537099"/>
            <a:ext cx="815209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25" b="1">
                <a:solidFill>
                  <a:srgbClr val="321E48"/>
                </a:solidFill>
                <a:latin typeface="Arial"/>
              </a:rPr>
              <a:t>Источник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6029" y="2831388"/>
            <a:ext cx="2281073" cy="33830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657383"/>
                </a:solidFill>
                <a:latin typeface="Arial"/>
              </a:rPr>
              <a:t>Перейти к документу, полному тексту или библиографической записи.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5181" y="3714257"/>
            <a:ext cx="1134460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>
                <a:solidFill>
                  <a:srgbClr val="43637E"/>
                </a:solidFill>
                <a:latin typeface="Arial"/>
              </a:rPr>
              <a:t>ПОТРЕБНОСТЬ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0662" y="3714257"/>
            <a:ext cx="220717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>
                <a:solidFill>
                  <a:srgbClr val="43637E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2400" y="3714257"/>
            <a:ext cx="568872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>
                <a:solidFill>
                  <a:srgbClr val="43637E"/>
                </a:solidFill>
                <a:latin typeface="Arial"/>
              </a:rPr>
              <a:t>ПОИСК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2294" y="3714257"/>
            <a:ext cx="220717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>
                <a:solidFill>
                  <a:srgbClr val="43637E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4031" y="3714257"/>
            <a:ext cx="569529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>
                <a:solidFill>
                  <a:srgbClr val="43637E"/>
                </a:solidFill>
                <a:latin typeface="Arial"/>
              </a:rPr>
              <a:t>ОТБОР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4581" y="3714257"/>
            <a:ext cx="220717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>
                <a:solidFill>
                  <a:srgbClr val="43637E"/>
                </a:solidFill>
                <a:latin typeface="Arial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6319" y="3714257"/>
            <a:ext cx="840335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1">
                <a:solidFill>
                  <a:srgbClr val="43637E"/>
                </a:solidFill>
                <a:latin typeface="Arial"/>
              </a:rPr>
              <a:t>ИСТОЧНИК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10867697" cy="450303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42041" cy="450303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79931" y="1706781"/>
            <a:ext cx="5249917" cy="672662"/>
          </a:xfrm>
          <a:prstGeom prst="rect">
            <a:avLst/>
          </a:prstGeom>
          <a:solidFill>
            <a:srgbClr val="321E48"/>
          </a:solidFill>
          <a:ln w="10510">
            <a:solidFill>
              <a:srgbClr val="32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9931" y="2495057"/>
            <a:ext cx="5249917" cy="672662"/>
          </a:xfrm>
          <a:prstGeom prst="rect">
            <a:avLst/>
          </a:prstGeom>
          <a:solidFill>
            <a:srgbClr val="321E48"/>
          </a:solidFill>
          <a:ln w="10510">
            <a:solidFill>
              <a:srgbClr val="32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79931" y="3283333"/>
            <a:ext cx="5249917" cy="672662"/>
          </a:xfrm>
          <a:prstGeom prst="rect">
            <a:avLst/>
          </a:prstGeom>
          <a:solidFill>
            <a:srgbClr val="321E48"/>
          </a:solidFill>
          <a:ln w="10510">
            <a:solidFill>
              <a:srgbClr val="32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79931" y="4071609"/>
            <a:ext cx="5249917" cy="672662"/>
          </a:xfrm>
          <a:prstGeom prst="rect">
            <a:avLst/>
          </a:prstGeom>
          <a:solidFill>
            <a:srgbClr val="321E48"/>
          </a:solidFill>
          <a:ln w="10510">
            <a:solidFill>
              <a:srgbClr val="32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-5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2" y="1727802"/>
            <a:ext cx="5249917" cy="2995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0110" y="462455"/>
            <a:ext cx="1442052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СЛАЙД 6 · ОЦЕНКА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110" y="683172"/>
            <a:ext cx="5559808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Как оценивать сетевой источник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38" y="1382603"/>
            <a:ext cx="6652227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>
                <a:solidFill>
                  <a:srgbClr val="536273"/>
                </a:solidFill>
                <a:latin typeface="Arial"/>
              </a:rPr>
              <a:t>Сетевой доступ не гарантирует научную ценность: источник нужно проверить по ключевым критериям.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566" y="1843416"/>
            <a:ext cx="1733057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FFFFFF"/>
                </a:solidFill>
                <a:latin typeface="Arial"/>
              </a:rPr>
              <a:t>Автор и организация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6566" y="2074644"/>
            <a:ext cx="3243427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9E4EF"/>
                </a:solidFill>
                <a:latin typeface="Arial"/>
              </a:rPr>
              <a:t>Идентифицируемый автор или учреждение-издатель.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6566" y="2631692"/>
            <a:ext cx="1340562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FFFFFF"/>
                </a:solidFill>
                <a:latin typeface="Arial"/>
              </a:rPr>
              <a:t>Научный статус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6566" y="2862919"/>
            <a:ext cx="4750183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9E4EF"/>
                </a:solidFill>
                <a:latin typeface="Arial"/>
              </a:rPr>
              <a:t>Публикация в научном издании, учебном издании или академическом ресурсе.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6566" y="3419968"/>
            <a:ext cx="1179622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FFFFFF"/>
                </a:solidFill>
                <a:latin typeface="Arial"/>
              </a:rPr>
              <a:t>Актуальность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6566" y="3651195"/>
            <a:ext cx="4352597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9E4EF"/>
                </a:solidFill>
                <a:latin typeface="Arial"/>
              </a:rPr>
              <a:t>Соответствие материала цели поиска и состоянию предметной области.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6566" y="4208244"/>
            <a:ext cx="1281769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FFFFFF"/>
                </a:solidFill>
                <a:latin typeface="Arial"/>
              </a:rPr>
              <a:t>Достоверность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566" y="4439471"/>
            <a:ext cx="3892933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9E4EF"/>
                </a:solidFill>
                <a:latin typeface="Arial"/>
              </a:rPr>
              <a:t>Проверяемость сведений, ссылок и библиографических данных.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5368" y="2023170"/>
            <a:ext cx="1592974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899" b="1">
                <a:solidFill>
                  <a:srgbClr val="182534"/>
                </a:solidFill>
                <a:latin typeface="Arial"/>
              </a:rPr>
              <a:t>АВТОР / ОРГАНИЗАЦИЯ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5955" y="3146653"/>
            <a:ext cx="1130773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899" b="1">
                <a:solidFill>
                  <a:srgbClr val="182534"/>
                </a:solidFill>
                <a:latin typeface="Arial"/>
              </a:rPr>
              <a:t>АКТУАЛЬНОСТЬ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9446" y="4280633"/>
            <a:ext cx="1248818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899" b="1">
                <a:solidFill>
                  <a:srgbClr val="182534"/>
                </a:solidFill>
                <a:latin typeface="Arial"/>
              </a:rPr>
              <a:t>ДОСТОВЕРНОСТЬ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975" y="3136142"/>
            <a:ext cx="1258903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899" b="1">
                <a:solidFill>
                  <a:srgbClr val="182534"/>
                </a:solidFill>
                <a:latin typeface="Arial"/>
              </a:rPr>
              <a:t>НАУЧНЫЙ СТАТУС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0743" y="3010123"/>
            <a:ext cx="998576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98" b="1">
                <a:solidFill>
                  <a:srgbClr val="254C6E"/>
                </a:solidFill>
                <a:latin typeface="Arial"/>
              </a:rPr>
              <a:t>КАЧЕСТВО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9716" y="3220120"/>
            <a:ext cx="1139619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98" b="1">
                <a:solidFill>
                  <a:srgbClr val="254C6E"/>
                </a:solidFill>
                <a:latin typeface="Arial"/>
              </a:rPr>
              <a:t>ИСТОЧНИКА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10867697" cy="648357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42041" cy="648357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-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2" y="1904836"/>
            <a:ext cx="10867697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110" y="462455"/>
            <a:ext cx="1618100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СЛАЙД 7 · ЗНАЧЕНИЕ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110" y="683172"/>
            <a:ext cx="5560137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Сетевая информационная среда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338" y="1382603"/>
            <a:ext cx="10317381" cy="37673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>
                <a:solidFill>
                  <a:srgbClr val="536273"/>
                </a:solidFill>
                <a:latin typeface="Arial"/>
              </a:rPr>
              <a:t>Для пользователя важна не отдельная база или библиотека, а связанная информационная среда. Она объединяет поиск, доступ к документам и работу разных участников образовательного и исследовательского процесса.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110" y="6542690"/>
            <a:ext cx="8325343" cy="13663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8B96A5"/>
                </a:solidFill>
                <a:latin typeface="Arial"/>
              </a:rPr>
              <a:t>Интеграция ресурсов формирует единое информационное пространство, в котором поиск, хранение и предоставление электронных документов связаны между собой.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9012" y="2388312"/>
            <a:ext cx="729889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292" b="1">
                <a:solidFill>
                  <a:srgbClr val="000000"/>
                </a:solidFill>
                <a:latin typeface="Arial"/>
              </a:rPr>
              <a:t>Студент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889" y="2388312"/>
            <a:ext cx="1303119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292" b="1">
                <a:solidFill>
                  <a:srgbClr val="000000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799" y="4069967"/>
            <a:ext cx="1299506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292" b="1">
                <a:solidFill>
                  <a:srgbClr val="000000"/>
                </a:solidFill>
                <a:latin typeface="Arial"/>
              </a:rPr>
              <a:t>Исследователь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7034" y="4069967"/>
            <a:ext cx="1015603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292" b="1">
                <a:solidFill>
                  <a:srgbClr val="000000"/>
                </a:solidFill>
                <a:latin typeface="Arial"/>
              </a:rPr>
              <a:t>Библиотека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5089" y="2630050"/>
            <a:ext cx="2014230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034" b="0">
                <a:solidFill>
                  <a:srgbClr val="687687"/>
                </a:solidFill>
                <a:latin typeface="Arial"/>
              </a:rPr>
              <a:t>поиск и самостоятельная работа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3502" y="2630050"/>
            <a:ext cx="1289324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034" b="0">
                <a:solidFill>
                  <a:srgbClr val="687687"/>
                </a:solidFill>
                <a:latin typeface="Arial"/>
              </a:rPr>
              <a:t>учебные материалы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948" y="4311705"/>
            <a:ext cx="1356512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034" b="0">
                <a:solidFill>
                  <a:srgbClr val="687687"/>
                </a:solidFill>
                <a:latin typeface="Arial"/>
              </a:rPr>
              <a:t>публикации и 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9121" y="4311705"/>
            <a:ext cx="1234144" cy="1681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034" b="0">
                <a:solidFill>
                  <a:srgbClr val="687687"/>
                </a:solidFill>
                <a:latin typeface="Arial"/>
              </a:rPr>
              <a:t>доступ и навигация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2191" y="3155567"/>
            <a:ext cx="787619" cy="18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6" b="1">
                <a:solidFill>
                  <a:srgbClr val="254C6E"/>
                </a:solidFill>
                <a:latin typeface="Arial"/>
              </a:rPr>
              <a:t>СЕТЕВАЯ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9249" y="3376284"/>
            <a:ext cx="1613502" cy="18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6" b="1">
                <a:solidFill>
                  <a:srgbClr val="254C6E"/>
                </a:solidFill>
                <a:latin typeface="Arial"/>
              </a:rPr>
              <a:t>ИНФОРМАЦИОННАЯ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7112" y="3597001"/>
            <a:ext cx="597776" cy="18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6" b="1">
                <a:solidFill>
                  <a:srgbClr val="254C6E"/>
                </a:solidFill>
                <a:latin typeface="Arial"/>
              </a:rPr>
              <a:t>СРЕДА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10867697" cy="648357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42041" cy="648357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152" y="2178105"/>
            <a:ext cx="3496332" cy="2154621"/>
          </a:xfrm>
          <a:prstGeom prst="rect">
            <a:avLst/>
          </a:prstGeom>
          <a:solidFill>
            <a:srgbClr val="F7F9FB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7670" y="2178105"/>
            <a:ext cx="3496496" cy="2154621"/>
          </a:xfrm>
          <a:prstGeom prst="rect">
            <a:avLst/>
          </a:prstGeom>
          <a:solidFill>
            <a:srgbClr val="F7F9FB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33352" y="2178105"/>
            <a:ext cx="3496332" cy="2154621"/>
          </a:xfrm>
          <a:prstGeom prst="rect">
            <a:avLst/>
          </a:prstGeom>
          <a:solidFill>
            <a:srgbClr val="F7F9FB"/>
          </a:solidFill>
          <a:ln w="1051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152" y="4563953"/>
            <a:ext cx="10867697" cy="840828"/>
          </a:xfrm>
          <a:prstGeom prst="rect">
            <a:avLst/>
          </a:prstGeom>
          <a:solidFill>
            <a:srgbClr val="EDF4F9"/>
          </a:solidFill>
          <a:ln w="10510">
            <a:solidFill>
              <a:srgbClr val="CB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110" y="462455"/>
            <a:ext cx="1514311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СЛАЙД 8 · ВЫВОДЫ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110" y="683172"/>
            <a:ext cx="8649850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Что определяет эффективность сетевых ресурсов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38" y="1382603"/>
            <a:ext cx="9818140" cy="37673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b="0">
                <a:solidFill>
                  <a:srgbClr val="536273"/>
                </a:solidFill>
                <a:latin typeface="Arial"/>
              </a:rPr>
              <a:t>Эффективность сетевого ресурса определяется не только объёмом представленной информации. Важны структура ресурса, качество средств поиска и возможность оценить надёжность найденных сведений.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4545" y="2409332"/>
            <a:ext cx="411546" cy="34684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43637E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6607" y="2892808"/>
            <a:ext cx="1047257" cy="2312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321E48"/>
                </a:solidFill>
                <a:latin typeface="Arial"/>
              </a:rPr>
              <a:t>Структура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429" y="3260670"/>
            <a:ext cx="2995777" cy="3698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b="0">
                <a:solidFill>
                  <a:srgbClr val="687687"/>
                </a:solidFill>
                <a:latin typeface="Arial"/>
              </a:rPr>
              <a:t>Ресурс должен иметь понятную организацию, метаданные и средства навигации.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0063" y="2409332"/>
            <a:ext cx="411546" cy="34684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43637E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51" y="2892808"/>
            <a:ext cx="651970" cy="2312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321E48"/>
                </a:solidFill>
                <a:latin typeface="Arial"/>
              </a:rPr>
              <a:t>Поиск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637" y="3260670"/>
            <a:ext cx="2864562" cy="3698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b="0">
                <a:solidFill>
                  <a:srgbClr val="687687"/>
                </a:solidFill>
                <a:latin typeface="Arial"/>
              </a:rPr>
              <a:t>Каталоги и базы данных сокращают путь от информационного запроса к документу.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5745" y="2409332"/>
            <a:ext cx="411546" cy="34684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43637E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0359" y="2892808"/>
            <a:ext cx="942318" cy="2312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321E48"/>
                </a:solidFill>
                <a:latin typeface="Arial"/>
              </a:rPr>
              <a:t>Качество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9067" y="3260670"/>
            <a:ext cx="2964903" cy="3698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b="0">
                <a:solidFill>
                  <a:srgbClr val="687687"/>
                </a:solidFill>
                <a:latin typeface="Arial"/>
              </a:rPr>
              <a:t>Научная ценность определяется авторством, актуальностью и проверяемостью сведений.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698" y="4753139"/>
            <a:ext cx="9932440" cy="45194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43637E"/>
                </a:solidFill>
                <a:latin typeface="Arial"/>
              </a:rPr>
              <a:t>Сетевой информационный ресурс — это не просто доступ к данным, а организованная система поиска, хранения и использования информации.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2152" y="1256479"/>
            <a:ext cx="5360276" cy="84082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2152" y="1256479"/>
            <a:ext cx="52552" cy="840828"/>
          </a:xfrm>
          <a:prstGeom prst="rect">
            <a:avLst/>
          </a:prstGeom>
          <a:solidFill>
            <a:srgbClr val="6F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69572" y="1256479"/>
            <a:ext cx="5360276" cy="84082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69572" y="1256479"/>
            <a:ext cx="52552" cy="840828"/>
          </a:xfrm>
          <a:prstGeom prst="rect">
            <a:avLst/>
          </a:prstGeom>
          <a:solidFill>
            <a:srgbClr val="6F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152" y="2244451"/>
            <a:ext cx="5360276" cy="84082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152" y="2244451"/>
            <a:ext cx="52552" cy="840828"/>
          </a:xfrm>
          <a:prstGeom prst="rect">
            <a:avLst/>
          </a:prstGeom>
          <a:solidFill>
            <a:srgbClr val="6F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9572" y="2244451"/>
            <a:ext cx="5360276" cy="84082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9572" y="2244451"/>
            <a:ext cx="52552" cy="840828"/>
          </a:xfrm>
          <a:prstGeom prst="rect">
            <a:avLst/>
          </a:prstGeom>
          <a:solidFill>
            <a:srgbClr val="6F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152" y="3348038"/>
            <a:ext cx="10867697" cy="493986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152" y="3348038"/>
            <a:ext cx="52552" cy="493986"/>
          </a:xfrm>
          <a:prstGeom prst="rect">
            <a:avLst/>
          </a:prstGeom>
          <a:solidFill>
            <a:srgbClr val="2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110" y="462455"/>
            <a:ext cx="952664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ИСТОЧНИКИ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110" y="683172"/>
            <a:ext cx="3489106" cy="39939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321E48"/>
                </a:solidFill>
                <a:latin typeface="Arial"/>
              </a:rPr>
              <a:t>Научная литература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317" y="1403624"/>
            <a:ext cx="927045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321E48"/>
                </a:solidFill>
                <a:latin typeface="Arial"/>
              </a:rPr>
              <a:t>Левин Г. 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317" y="1634851"/>
            <a:ext cx="4271798" cy="315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Сетевые информационные ресурсы как объект библиографирования // Библиотековедение. 2017. Т. 66, № 4. С. 396–402.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7738" y="1403624"/>
            <a:ext cx="728827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321E48"/>
                </a:solidFill>
                <a:latin typeface="Arial"/>
              </a:rPr>
              <a:t>Левин Г.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7738" y="1634851"/>
            <a:ext cx="4291177" cy="315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Электронные библиографические ресурсы и их библиографирование // Библиография. 2017. № 4. С. 46–54.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317" y="2391596"/>
            <a:ext cx="976477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321E48"/>
                </a:solidFill>
                <a:latin typeface="Arial"/>
              </a:rPr>
              <a:t>Панов А. 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317" y="2622824"/>
            <a:ext cx="4991921" cy="315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Сетевые информационные ресурсы: учебное пособие. М.: МГТУ МИРЭА, 2011. 119 с.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7738" y="2391596"/>
            <a:ext cx="2467468" cy="19969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321E48"/>
                </a:solidFill>
                <a:latin typeface="Arial"/>
              </a:rPr>
              <a:t>Цветков В. Я., Семушкина С. 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7738" y="2622824"/>
            <a:ext cx="4771040" cy="315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87687"/>
                </a:solidFill>
                <a:latin typeface="Arial"/>
              </a:rPr>
              <a:t>Электронные ресурсы и электронные услуги // Современные проблемы науки и образования. 2009. № 6-1. С. 39–40.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828" y="3505693"/>
            <a:ext cx="9034627" cy="1786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75" b="0">
                <a:solidFill>
                  <a:srgbClr val="321E48"/>
                </a:solidFill>
                <a:latin typeface="Arial"/>
              </a:rPr>
              <a:t>Использованы научные статьи и учебное издание, посвящённые сетевым, электронным и библиографическим информационным ресурсам.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59762" y="6532179"/>
            <a:ext cx="148459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572" cy="6858000"/>
          </a:xfrm>
          <a:prstGeom prst="rect">
            <a:avLst/>
          </a:prstGeom>
          <a:solidFill>
            <a:srgbClr val="4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 w="10510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985" y="4702722"/>
            <a:ext cx="683172" cy="31531"/>
          </a:xfrm>
          <a:prstGeom prst="ellipse">
            <a:avLst/>
          </a:prstGeom>
          <a:solidFill>
            <a:srgbClr val="65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85165" y="4702722"/>
            <a:ext cx="683172" cy="31531"/>
          </a:xfrm>
          <a:prstGeom prst="ellipse">
            <a:avLst/>
          </a:prstGeom>
          <a:solidFill>
            <a:srgbClr val="65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tcard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118" y="2377966"/>
            <a:ext cx="2942897" cy="23122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110" y="462455"/>
            <a:ext cx="1076653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15">
                <a:solidFill>
                  <a:srgbClr val="43637E"/>
                </a:solidFill>
                <a:latin typeface="Arial"/>
              </a:rPr>
              <a:t>ЗАВЕРШЕНИЕ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4944" y="2207829"/>
            <a:ext cx="3686996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1" spc="107">
                <a:solidFill>
                  <a:srgbClr val="43637E"/>
                </a:solidFill>
                <a:latin typeface="Arial"/>
              </a:rPr>
              <a:t>КЕМГИК · СЕТЕВЫЕ ИНФОРМАЦИОННЫЕ РЕСУРСЫ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4944" y="2470588"/>
            <a:ext cx="3865836" cy="123907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4125" b="1">
                <a:solidFill>
                  <a:srgbClr val="321E48"/>
                </a:solidFill>
                <a:latin typeface="Arial"/>
              </a:rPr>
              <a:t>Спасибо</a:t>
            </a:r>
          </a:p>
          <a:p>
            <a:pPr algn="l"/>
            <a:r>
              <a:rPr sz="4125" b="1">
                <a:solidFill>
                  <a:srgbClr val="321E48"/>
                </a:solidFill>
                <a:latin typeface="Arial"/>
              </a:rPr>
              <a:t>за внимание!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4944" y="3866165"/>
            <a:ext cx="3607183" cy="47083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5B6977"/>
                </a:solidFill>
                <a:latin typeface="Arial"/>
              </a:rPr>
              <a:t>Пусть поиск информации всегда приводит</a:t>
            </a:r>
          </a:p>
          <a:p>
            <a:pPr algn="l">
              <a:lnSpc>
                <a:spcPct val="140000"/>
              </a:lnSpc>
            </a:pPr>
            <a:r>
              <a:rPr sz="1275" b="0">
                <a:solidFill>
                  <a:srgbClr val="5B6977"/>
                </a:solidFill>
                <a:latin typeface="Arial"/>
              </a:rPr>
              <a:t>к хорошим источникам.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95386" y="6532179"/>
            <a:ext cx="212834" cy="14714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25" b="0">
                <a:solidFill>
                  <a:srgbClr val="8B96A5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6276" y="4301359"/>
            <a:ext cx="1574417" cy="18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43637E"/>
                </a:solidFill>
                <a:latin typeface="Arial"/>
              </a:rPr>
              <a:t>информация найдена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